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27"/>
  </p:notesMasterIdLst>
  <p:handoutMasterIdLst>
    <p:handoutMasterId r:id="rId28"/>
  </p:handoutMasterIdLst>
  <p:sldIdLst>
    <p:sldId id="258" r:id="rId5"/>
    <p:sldId id="259" r:id="rId6"/>
    <p:sldId id="266" r:id="rId7"/>
    <p:sldId id="267" r:id="rId8"/>
    <p:sldId id="269" r:id="rId9"/>
    <p:sldId id="268" r:id="rId10"/>
    <p:sldId id="270" r:id="rId11"/>
    <p:sldId id="271" r:id="rId12"/>
    <p:sldId id="272" r:id="rId13"/>
    <p:sldId id="273" r:id="rId14"/>
    <p:sldId id="274" r:id="rId15"/>
    <p:sldId id="275" r:id="rId16"/>
    <p:sldId id="277" r:id="rId17"/>
    <p:sldId id="276" r:id="rId18"/>
    <p:sldId id="280" r:id="rId19"/>
    <p:sldId id="261" r:id="rId20"/>
    <p:sldId id="263" r:id="rId21"/>
    <p:sldId id="262" r:id="rId22"/>
    <p:sldId id="281" r:id="rId23"/>
    <p:sldId id="265" r:id="rId24"/>
    <p:sldId id="260"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30"/>
  </p:normalViewPr>
  <p:slideViewPr>
    <p:cSldViewPr showGuides="1">
      <p:cViewPr varScale="1">
        <p:scale>
          <a:sx n="83" d="100"/>
          <a:sy n="83" d="100"/>
        </p:scale>
        <p:origin x="390" y="54"/>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6/9/2026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6/9/2026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6/9/2026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6/9/2026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6/9/2026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6/9/2026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6/9/2026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6/9/2026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6/9/2026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6/9/2026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6/9/2026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6/9/2026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6/9/2026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6/9/2026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6/9/2026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6/9/2026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6/9/2026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6/9/2026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6/9/2026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6/9/2026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6/9/2026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6/9/2026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6/9/2026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6/9/2026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6/9/2026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6/9/2026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6/9/2026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6/9/2026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6/9/2026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6/9/2026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dirty="0"/>
              <a:t>EGT309 Presentation</a:t>
            </a:r>
            <a:br>
              <a:rPr lang="en-US" dirty="0"/>
            </a:br>
            <a:endParaRPr lang="en-US" dirty="0"/>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a:bodyPr>
          <a:lstStyle/>
          <a:p>
            <a:r>
              <a:rPr lang="en-US" dirty="0"/>
              <a:t>By: Derek, Shun Wei, Wei Guan</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C2504-DBFC-C871-40C6-63A005949E06}"/>
              </a:ext>
            </a:extLst>
          </p:cNvPr>
          <p:cNvSpPr>
            <a:spLocks noGrp="1"/>
          </p:cNvSpPr>
          <p:nvPr>
            <p:ph type="title"/>
          </p:nvPr>
        </p:nvSpPr>
        <p:spPr/>
        <p:txBody>
          <a:bodyPr/>
          <a:lstStyle/>
          <a:p>
            <a:r>
              <a:rPr lang="en-SG" dirty="0"/>
              <a:t>EDA WALKTHROUGH</a:t>
            </a:r>
          </a:p>
        </p:txBody>
      </p:sp>
      <p:sp>
        <p:nvSpPr>
          <p:cNvPr id="3" name="Content Placeholder 2">
            <a:extLst>
              <a:ext uri="{FF2B5EF4-FFF2-40B4-BE49-F238E27FC236}">
                <a16:creationId xmlns:a16="http://schemas.microsoft.com/office/drawing/2014/main" id="{9754E053-04EE-C46A-E8DB-1D114B9A8D5E}"/>
              </a:ext>
            </a:extLst>
          </p:cNvPr>
          <p:cNvSpPr>
            <a:spLocks noGrp="1"/>
          </p:cNvSpPr>
          <p:nvPr>
            <p:ph idx="1"/>
          </p:nvPr>
        </p:nvSpPr>
        <p:spPr/>
        <p:txBody>
          <a:bodyPr/>
          <a:lstStyle/>
          <a:p>
            <a:r>
              <a:rPr lang="en-SG" b="1" dirty="0"/>
              <a:t>Temperature</a:t>
            </a:r>
            <a:r>
              <a:rPr lang="en-SG" dirty="0"/>
              <a:t>: replaces unrealistic values (&gt;60°C) with </a:t>
            </a:r>
            <a:r>
              <a:rPr lang="en-SG" dirty="0" err="1"/>
              <a:t>NaN</a:t>
            </a:r>
            <a:r>
              <a:rPr lang="en-SG" dirty="0"/>
              <a:t>, then median imputation</a:t>
            </a:r>
          </a:p>
          <a:p>
            <a:r>
              <a:rPr lang="en-SG" b="1" dirty="0"/>
              <a:t>Humidity</a:t>
            </a:r>
            <a:r>
              <a:rPr lang="en-SG" dirty="0"/>
              <a:t>: replaces physically impossible values (&lt; 0 or &gt; 100%) with </a:t>
            </a:r>
            <a:r>
              <a:rPr lang="en-SG" dirty="0" err="1"/>
              <a:t>NaN</a:t>
            </a:r>
            <a:r>
              <a:rPr lang="en-SG" dirty="0"/>
              <a:t>, then median imputation</a:t>
            </a:r>
          </a:p>
          <a:p>
            <a:r>
              <a:rPr lang="en-SG" b="1" dirty="0"/>
              <a:t>CO2_InfraredSensor</a:t>
            </a:r>
            <a:r>
              <a:rPr lang="en-SG" dirty="0"/>
              <a:t>: clips negative values (sensor calibration error, min -17.47 ppm) to </a:t>
            </a:r>
            <a:r>
              <a:rPr lang="en-SG" dirty="0" err="1"/>
              <a:t>NaN</a:t>
            </a:r>
            <a:r>
              <a:rPr lang="en-SG" dirty="0"/>
              <a:t>, then median imputation</a:t>
            </a:r>
          </a:p>
          <a:p>
            <a:r>
              <a:rPr lang="en-SG" b="1" dirty="0"/>
              <a:t>CO2_ElectroChemicalSensor</a:t>
            </a:r>
            <a:r>
              <a:rPr lang="en-SG" dirty="0"/>
              <a:t>: no missing or anomalous values found</a:t>
            </a:r>
          </a:p>
          <a:p>
            <a:r>
              <a:rPr lang="en-SG" b="1" dirty="0" err="1"/>
              <a:t>CO_GasSensor</a:t>
            </a:r>
            <a:r>
              <a:rPr lang="en-SG" dirty="0"/>
              <a:t>: mode imputation for missing values (8.3% missing), cast to integer — values range 0–4 (not binary)</a:t>
            </a:r>
          </a:p>
          <a:p>
            <a:r>
              <a:rPr lang="en-SG" b="1" dirty="0"/>
              <a:t>MetalOxideSensor_Unit2</a:t>
            </a:r>
            <a:r>
              <a:rPr lang="en-SG" dirty="0"/>
              <a:t>: median imputation (14% missing; other units have 0 missing)</a:t>
            </a:r>
          </a:p>
          <a:p>
            <a:r>
              <a:rPr lang="en-SG" b="1" dirty="0"/>
              <a:t>HVAC Operation Mode</a:t>
            </a:r>
            <a:r>
              <a:rPr lang="en-SG" dirty="0"/>
              <a:t>: standardised 23 inconsistent variant spellings into 6 canonical </a:t>
            </a:r>
            <a:r>
              <a:rPr lang="en-SG" dirty="0" err="1"/>
              <a:t>lowercase_underscore</a:t>
            </a:r>
            <a:r>
              <a:rPr lang="en-SG" dirty="0"/>
              <a:t> categories</a:t>
            </a:r>
          </a:p>
          <a:p>
            <a:r>
              <a:rPr lang="en-SG" b="1" dirty="0"/>
              <a:t>Activity Level</a:t>
            </a:r>
            <a:r>
              <a:rPr lang="en-SG" dirty="0"/>
              <a:t>: standardised 6 variant spellings into 3 canonical forms (Low Activity, Moderate Activity, High Activity)</a:t>
            </a:r>
          </a:p>
          <a:p>
            <a:r>
              <a:rPr lang="en-SG" b="1" dirty="0"/>
              <a:t>Ambient Light Level</a:t>
            </a:r>
            <a:r>
              <a:rPr lang="en-SG" dirty="0"/>
              <a:t>: 10.5% missing — diagnosed missing pattern (MCAR across Time of Day / HVAC modes), imputed with mode (</a:t>
            </a:r>
            <a:r>
              <a:rPr lang="en-SG" dirty="0" err="1"/>
              <a:t>very_bright</a:t>
            </a:r>
            <a:r>
              <a:rPr lang="en-SG" dirty="0"/>
              <a:t>) to avoid dropping 10% of rows</a:t>
            </a:r>
          </a:p>
          <a:p>
            <a:r>
              <a:rPr lang="en-SG" b="1" dirty="0"/>
              <a:t>Time of Day</a:t>
            </a:r>
            <a:r>
              <a:rPr lang="en-SG" dirty="0"/>
              <a:t>: 4 consistent categories (morning, afternoon, evening, night), no missing or casing issues</a:t>
            </a:r>
          </a:p>
          <a:p>
            <a:r>
              <a:rPr lang="en-SG" b="1" dirty="0"/>
              <a:t>Session ID</a:t>
            </a:r>
            <a:r>
              <a:rPr lang="en-SG" dirty="0"/>
              <a:t>: unique row identifier (10000/10000 unique), no predictive value — dropped during </a:t>
            </a:r>
            <a:r>
              <a:rPr lang="en-SG" dirty="0" err="1"/>
              <a:t>modeling</a:t>
            </a:r>
            <a:endParaRPr lang="en-SG" dirty="0"/>
          </a:p>
          <a:p>
            <a:endParaRPr lang="en-SG" dirty="0"/>
          </a:p>
        </p:txBody>
      </p:sp>
    </p:spTree>
    <p:extLst>
      <p:ext uri="{BB962C8B-B14F-4D97-AF65-F5344CB8AC3E}">
        <p14:creationId xmlns:p14="http://schemas.microsoft.com/office/powerpoint/2010/main" val="2671786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B154A-2EAB-AF76-42D6-80316EB38F3C}"/>
              </a:ext>
            </a:extLst>
          </p:cNvPr>
          <p:cNvSpPr>
            <a:spLocks noGrp="1"/>
          </p:cNvSpPr>
          <p:nvPr>
            <p:ph type="title"/>
          </p:nvPr>
        </p:nvSpPr>
        <p:spPr>
          <a:xfrm>
            <a:off x="612185" y="685800"/>
            <a:ext cx="9141415" cy="1532788"/>
          </a:xfrm>
        </p:spPr>
        <p:txBody>
          <a:bodyPr anchor="b">
            <a:normAutofit/>
          </a:bodyPr>
          <a:lstStyle/>
          <a:p>
            <a:r>
              <a:rPr lang="en-SG" sz="5600" b="1"/>
              <a:t>Feature vs. Target Analysis</a:t>
            </a:r>
            <a:endParaRPr lang="en-SG" sz="5600"/>
          </a:p>
        </p:txBody>
      </p:sp>
      <p:sp>
        <p:nvSpPr>
          <p:cNvPr id="3" name="Content Placeholder 2">
            <a:extLst>
              <a:ext uri="{FF2B5EF4-FFF2-40B4-BE49-F238E27FC236}">
                <a16:creationId xmlns:a16="http://schemas.microsoft.com/office/drawing/2014/main" id="{A8FDE9F4-9C49-07C0-C3DD-E1C212305A4C}"/>
              </a:ext>
            </a:extLst>
          </p:cNvPr>
          <p:cNvSpPr>
            <a:spLocks noGrp="1"/>
          </p:cNvSpPr>
          <p:nvPr>
            <p:ph sz="quarter" idx="13"/>
          </p:nvPr>
        </p:nvSpPr>
        <p:spPr>
          <a:xfrm>
            <a:off x="612185" y="2958705"/>
            <a:ext cx="9141415" cy="3213494"/>
          </a:xfrm>
        </p:spPr>
        <p:txBody>
          <a:bodyPr anchor="t">
            <a:normAutofit lnSpcReduction="10000"/>
          </a:bodyPr>
          <a:lstStyle/>
          <a:p>
            <a:pPr>
              <a:lnSpc>
                <a:spcPct val="140000"/>
              </a:lnSpc>
            </a:pPr>
            <a:r>
              <a:rPr lang="en-US" sz="1600" dirty="0"/>
              <a:t>Examines how each feature relates to the Activity Level target:</a:t>
            </a:r>
          </a:p>
          <a:p>
            <a:pPr lvl="1">
              <a:lnSpc>
                <a:spcPct val="140000"/>
              </a:lnSpc>
            </a:pPr>
            <a:r>
              <a:rPr lang="en-US" sz="1600" dirty="0"/>
              <a:t>Numeric sensor distributions by activity class (box plots)</a:t>
            </a:r>
          </a:p>
          <a:p>
            <a:pPr lvl="1">
              <a:lnSpc>
                <a:spcPct val="140000"/>
              </a:lnSpc>
            </a:pPr>
            <a:r>
              <a:rPr lang="en-US" sz="1600" dirty="0"/>
              <a:t>Full correlation matrix across all sensors + target</a:t>
            </a:r>
          </a:p>
          <a:p>
            <a:pPr lvl="1">
              <a:lnSpc>
                <a:spcPct val="140000"/>
              </a:lnSpc>
            </a:pPr>
            <a:r>
              <a:rPr lang="en-US" sz="1600" dirty="0"/>
              <a:t>Categorical cross-tabulations (HVAC mode, Time of Day, Ambient Light, </a:t>
            </a:r>
            <a:r>
              <a:rPr lang="en-US" sz="1600" dirty="0" err="1"/>
              <a:t>CO_GasSensor</a:t>
            </a:r>
            <a:r>
              <a:rPr lang="en-US" sz="1600" dirty="0"/>
              <a:t> vs. Activity Level)</a:t>
            </a:r>
          </a:p>
          <a:p>
            <a:pPr lvl="1">
              <a:lnSpc>
                <a:spcPct val="140000"/>
              </a:lnSpc>
            </a:pPr>
            <a:r>
              <a:rPr lang="en-US" sz="1600" dirty="0"/>
              <a:t>Key finding: Metal Oxide sensors and CO2_ElectroChemicalSensor have the strongest predictive signal; Temperature and Humidity have near-zero correlation with the target</a:t>
            </a:r>
          </a:p>
          <a:p>
            <a:pPr>
              <a:lnSpc>
                <a:spcPct val="140000"/>
              </a:lnSpc>
            </a:pPr>
            <a:br>
              <a:rPr lang="en-US" sz="1400" dirty="0"/>
            </a:br>
            <a:endParaRPr lang="en-SG" sz="1400" dirty="0"/>
          </a:p>
        </p:txBody>
      </p:sp>
    </p:spTree>
    <p:extLst>
      <p:ext uri="{BB962C8B-B14F-4D97-AF65-F5344CB8AC3E}">
        <p14:creationId xmlns:p14="http://schemas.microsoft.com/office/powerpoint/2010/main" val="341649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55A12-87DF-7174-A2DB-9D111875B315}"/>
              </a:ext>
            </a:extLst>
          </p:cNvPr>
          <p:cNvSpPr>
            <a:spLocks noGrp="1"/>
          </p:cNvSpPr>
          <p:nvPr>
            <p:ph type="title"/>
          </p:nvPr>
        </p:nvSpPr>
        <p:spPr>
          <a:xfrm>
            <a:off x="6095999" y="685800"/>
            <a:ext cx="5480304" cy="1818050"/>
          </a:xfrm>
        </p:spPr>
        <p:txBody>
          <a:bodyPr anchor="t">
            <a:normAutofit/>
          </a:bodyPr>
          <a:lstStyle/>
          <a:p>
            <a:r>
              <a:rPr lang="en-SG" sz="5600"/>
              <a:t>Temperature</a:t>
            </a:r>
          </a:p>
        </p:txBody>
      </p:sp>
      <p:pic>
        <p:nvPicPr>
          <p:cNvPr id="5" name="Content Placeholder 4" descr="The diagram shows a temperature distribution with values ranging from 0 to 8000, divided into intervals and associated with specific coordinates.&#10;&#10;AI-generated content may be incorrect.">
            <a:extLst>
              <a:ext uri="{FF2B5EF4-FFF2-40B4-BE49-F238E27FC236}">
                <a16:creationId xmlns:a16="http://schemas.microsoft.com/office/drawing/2014/main" id="{F44EE466-9D02-6F39-5230-5073C931773F}"/>
              </a:ext>
            </a:extLst>
          </p:cNvPr>
          <p:cNvPicPr>
            <a:picLocks noGrp="1" noChangeAspect="1"/>
          </p:cNvPicPr>
          <p:nvPr>
            <p:ph type="pic" sz="quarter" idx="14"/>
          </p:nvPr>
        </p:nvPicPr>
        <p:blipFill>
          <a:blip r:embed="rId2"/>
          <a:stretch/>
        </p:blipFill>
        <p:spPr>
          <a:xfrm>
            <a:off x="0" y="325739"/>
            <a:ext cx="5477256" cy="6206521"/>
          </a:xfrm>
          <a:prstGeom prst="rect">
            <a:avLst/>
          </a:prstGeom>
          <a:noFill/>
        </p:spPr>
      </p:pic>
      <p:sp>
        <p:nvSpPr>
          <p:cNvPr id="10" name="Content Placeholder 3">
            <a:extLst>
              <a:ext uri="{FF2B5EF4-FFF2-40B4-BE49-F238E27FC236}">
                <a16:creationId xmlns:a16="http://schemas.microsoft.com/office/drawing/2014/main" id="{D0E11C70-05F9-8C98-8B28-CDDEBDAB7FA0}"/>
              </a:ext>
            </a:extLst>
          </p:cNvPr>
          <p:cNvSpPr>
            <a:spLocks noGrp="1"/>
          </p:cNvSpPr>
          <p:nvPr>
            <p:ph sz="quarter" idx="13"/>
          </p:nvPr>
        </p:nvSpPr>
        <p:spPr>
          <a:xfrm>
            <a:off x="6096000" y="3189770"/>
            <a:ext cx="5480304" cy="2982429"/>
          </a:xfrm>
        </p:spPr>
        <p:txBody>
          <a:bodyPr/>
          <a:lstStyle/>
          <a:p>
            <a:r>
              <a:rPr lang="en-US" sz="1600" dirty="0"/>
              <a:t>This bar chart displays a "Temperature Distribution" across five distinct temperature ranges, showing a highly bimodal or polarized dataset. The vast majority of the data points—over 9,000 counts—fall into the lowest temperature interval between approximately 6.60 and 66.94. Conversely, there is a small secondary cluster of around 800 counts in the highest temperature range (247.04 to 307.07), while the middle temperature intervals contain virtually no data.</a:t>
            </a:r>
          </a:p>
        </p:txBody>
      </p:sp>
    </p:spTree>
    <p:extLst>
      <p:ext uri="{BB962C8B-B14F-4D97-AF65-F5344CB8AC3E}">
        <p14:creationId xmlns:p14="http://schemas.microsoft.com/office/powerpoint/2010/main" val="1310977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15362-7718-633B-7F3B-787C87DFD7D5}"/>
              </a:ext>
            </a:extLst>
          </p:cNvPr>
          <p:cNvSpPr>
            <a:spLocks noGrp="1"/>
          </p:cNvSpPr>
          <p:nvPr>
            <p:ph type="title"/>
          </p:nvPr>
        </p:nvSpPr>
        <p:spPr/>
        <p:txBody>
          <a:bodyPr/>
          <a:lstStyle/>
          <a:p>
            <a:r>
              <a:rPr lang="en-SG" dirty="0"/>
              <a:t>Temperature</a:t>
            </a:r>
          </a:p>
        </p:txBody>
      </p:sp>
      <p:pic>
        <p:nvPicPr>
          <p:cNvPr id="5" name="Content Placeholder 4" descr="The image displays a histogram and a box plot representing the distribution of temperature data, with a range from 0 to 3000 degrees Celsius.&#10;&#10;AI-generated content may be incorrect.">
            <a:extLst>
              <a:ext uri="{FF2B5EF4-FFF2-40B4-BE49-F238E27FC236}">
                <a16:creationId xmlns:a16="http://schemas.microsoft.com/office/drawing/2014/main" id="{D219E0D3-79DB-1178-A1EE-A74E7CD25099}"/>
              </a:ext>
            </a:extLst>
          </p:cNvPr>
          <p:cNvPicPr>
            <a:picLocks noGrp="1" noChangeAspect="1"/>
          </p:cNvPicPr>
          <p:nvPr>
            <p:ph idx="1"/>
          </p:nvPr>
        </p:nvPicPr>
        <p:blipFill>
          <a:blip r:embed="rId2"/>
          <a:stretch>
            <a:fillRect/>
          </a:stretch>
        </p:blipFill>
        <p:spPr>
          <a:xfrm>
            <a:off x="612775" y="1988970"/>
            <a:ext cx="10963275" cy="4023060"/>
          </a:xfrm>
          <a:prstGeom prst="rect">
            <a:avLst/>
          </a:prstGeom>
        </p:spPr>
      </p:pic>
    </p:spTree>
    <p:extLst>
      <p:ext uri="{BB962C8B-B14F-4D97-AF65-F5344CB8AC3E}">
        <p14:creationId xmlns:p14="http://schemas.microsoft.com/office/powerpoint/2010/main" val="1759995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35F1-E4A0-9E08-584C-491CB30D8A48}"/>
              </a:ext>
            </a:extLst>
          </p:cNvPr>
          <p:cNvSpPr>
            <a:spLocks noGrp="1"/>
          </p:cNvSpPr>
          <p:nvPr>
            <p:ph type="title"/>
          </p:nvPr>
        </p:nvSpPr>
        <p:spPr>
          <a:xfrm>
            <a:off x="6095999" y="685800"/>
            <a:ext cx="5480304" cy="1818050"/>
          </a:xfrm>
        </p:spPr>
        <p:txBody>
          <a:bodyPr vert="horz" lIns="91440" tIns="45720" rIns="91440" bIns="45720" rtlCol="0" anchor="t">
            <a:normAutofit/>
          </a:bodyPr>
          <a:lstStyle/>
          <a:p>
            <a:r>
              <a:rPr lang="en-US" b="0" i="0" kern="1200" cap="all" spc="0" baseline="0">
                <a:latin typeface="+mj-lt"/>
                <a:ea typeface="+mj-ea"/>
                <a:cs typeface="+mj-cs"/>
              </a:rPr>
              <a:t>Humidity</a:t>
            </a:r>
          </a:p>
        </p:txBody>
      </p:sp>
      <p:pic>
        <p:nvPicPr>
          <p:cNvPr id="5" name="Content Placeholder 4" descr="The diagram displays a humidity distribution with a range from 0 to 1000, with intervals at 5000, 4000, 3000, and 2000, and specific data points at -50.12, -0.116, 49.638, and 99.392.&#10;&#10;AI-generated content may be incorrect.">
            <a:extLst>
              <a:ext uri="{FF2B5EF4-FFF2-40B4-BE49-F238E27FC236}">
                <a16:creationId xmlns:a16="http://schemas.microsoft.com/office/drawing/2014/main" id="{8AF206D5-CDB3-F8C9-B8A7-931E542F7F89}"/>
              </a:ext>
            </a:extLst>
          </p:cNvPr>
          <p:cNvPicPr>
            <a:picLocks noGrp="1" noChangeAspect="1"/>
          </p:cNvPicPr>
          <p:nvPr>
            <p:ph type="pic" sz="quarter" idx="14"/>
          </p:nvPr>
        </p:nvPicPr>
        <p:blipFill>
          <a:blip r:embed="rId2"/>
          <a:stretch/>
        </p:blipFill>
        <p:spPr>
          <a:xfrm>
            <a:off x="0" y="745144"/>
            <a:ext cx="5477256" cy="5367711"/>
          </a:xfrm>
          <a:prstGeom prst="rect">
            <a:avLst/>
          </a:prstGeom>
          <a:noFill/>
        </p:spPr>
      </p:pic>
      <p:sp>
        <p:nvSpPr>
          <p:cNvPr id="6" name="TextBox 5">
            <a:extLst>
              <a:ext uri="{FF2B5EF4-FFF2-40B4-BE49-F238E27FC236}">
                <a16:creationId xmlns:a16="http://schemas.microsoft.com/office/drawing/2014/main" id="{330757DE-20E9-9A04-B52C-38506690E386}"/>
              </a:ext>
            </a:extLst>
          </p:cNvPr>
          <p:cNvSpPr txBox="1"/>
          <p:nvPr/>
        </p:nvSpPr>
        <p:spPr>
          <a:xfrm>
            <a:off x="6096000" y="3189770"/>
            <a:ext cx="5480304" cy="2982429"/>
          </a:xfrm>
          <a:prstGeom prst="rect">
            <a:avLst/>
          </a:prstGeom>
        </p:spPr>
        <p:txBody>
          <a:bodyPr vert="horz" lIns="91440" tIns="45720" rIns="91440" bIns="45720" rtlCol="0" anchor="t">
            <a:normAutofit/>
          </a:bodyPr>
          <a:lstStyle/>
          <a:p>
            <a:pPr>
              <a:lnSpc>
                <a:spcPct val="150000"/>
              </a:lnSpc>
              <a:spcBef>
                <a:spcPts val="1000"/>
              </a:spcBef>
            </a:pPr>
            <a:r>
              <a:rPr lang="en-US" dirty="0">
                <a:solidFill>
                  <a:schemeClr val="tx2"/>
                </a:solidFill>
              </a:rPr>
              <a:t>This chart shows the distribution of humidity data grouped into five ranges. The vast majority of the observations fall into the middle ranges—specifically between -0.116 and 99.392—with the highest concentration (nearly 5,000 counts) sitting in the 49.638 to 99.392 bracket.</a:t>
            </a:r>
          </a:p>
        </p:txBody>
      </p:sp>
    </p:spTree>
    <p:extLst>
      <p:ext uri="{BB962C8B-B14F-4D97-AF65-F5344CB8AC3E}">
        <p14:creationId xmlns:p14="http://schemas.microsoft.com/office/powerpoint/2010/main" val="3599322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C91C-4EA0-25AF-7C8A-8A839581DB6F}"/>
              </a:ext>
            </a:extLst>
          </p:cNvPr>
          <p:cNvSpPr>
            <a:spLocks noGrp="1"/>
          </p:cNvSpPr>
          <p:nvPr>
            <p:ph type="title"/>
          </p:nvPr>
        </p:nvSpPr>
        <p:spPr/>
        <p:txBody>
          <a:bodyPr/>
          <a:lstStyle/>
          <a:p>
            <a:r>
              <a:rPr lang="en-SG" dirty="0"/>
              <a:t>HUMIDITY</a:t>
            </a:r>
          </a:p>
        </p:txBody>
      </p:sp>
      <p:pic>
        <p:nvPicPr>
          <p:cNvPr id="5" name="Content Placeholder 4" descr="The image contains two graphs: a histogram showing the distribution of humidity values, and a box plot that also displays the same data. Both graphs indicate that the majority of humidity measurements fall within the 1000-2000% range, with a concentration around 1500% and fewer readings below 50%.&#10;&#10;AI-generated content may be incorrect.">
            <a:extLst>
              <a:ext uri="{FF2B5EF4-FFF2-40B4-BE49-F238E27FC236}">
                <a16:creationId xmlns:a16="http://schemas.microsoft.com/office/drawing/2014/main" id="{B294E265-7B58-A732-3084-8F749826151F}"/>
              </a:ext>
            </a:extLst>
          </p:cNvPr>
          <p:cNvPicPr>
            <a:picLocks noGrp="1" noChangeAspect="1"/>
          </p:cNvPicPr>
          <p:nvPr>
            <p:ph idx="1"/>
          </p:nvPr>
        </p:nvPicPr>
        <p:blipFill>
          <a:blip r:embed="rId2"/>
          <a:stretch>
            <a:fillRect/>
          </a:stretch>
        </p:blipFill>
        <p:spPr>
          <a:xfrm>
            <a:off x="612775" y="2016295"/>
            <a:ext cx="10963275" cy="3968409"/>
          </a:xfrm>
          <a:prstGeom prst="rect">
            <a:avLst/>
          </a:prstGeom>
        </p:spPr>
      </p:pic>
    </p:spTree>
    <p:extLst>
      <p:ext uri="{BB962C8B-B14F-4D97-AF65-F5344CB8AC3E}">
        <p14:creationId xmlns:p14="http://schemas.microsoft.com/office/powerpoint/2010/main" val="1003904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CD22C-43B6-2ADE-55D2-C2A24FC6B7F4}"/>
              </a:ext>
            </a:extLst>
          </p:cNvPr>
          <p:cNvSpPr>
            <a:spLocks noGrp="1"/>
          </p:cNvSpPr>
          <p:nvPr>
            <p:ph type="title"/>
          </p:nvPr>
        </p:nvSpPr>
        <p:spPr>
          <a:xfrm>
            <a:off x="695400" y="404664"/>
            <a:ext cx="11243992" cy="1403177"/>
          </a:xfrm>
        </p:spPr>
        <p:txBody>
          <a:bodyPr/>
          <a:lstStyle/>
          <a:p>
            <a:r>
              <a:rPr lang="en-SG" dirty="0"/>
              <a:t>CO2 INFRARED AND ELECTROCHEMICAL</a:t>
            </a:r>
          </a:p>
        </p:txBody>
      </p:sp>
      <p:pic>
        <p:nvPicPr>
          <p:cNvPr id="5" name="Content Placeholder 4" descr="The image depicts a bar chart illustrating the distribution of CO2 levels across various intervals, with a notable concentration around the 33.597 mark.&#10;&#10;AI-generated content may be incorrect.">
            <a:extLst>
              <a:ext uri="{FF2B5EF4-FFF2-40B4-BE49-F238E27FC236}">
                <a16:creationId xmlns:a16="http://schemas.microsoft.com/office/drawing/2014/main" id="{F5801E3D-CC26-8449-3940-398F18931EEB}"/>
              </a:ext>
            </a:extLst>
          </p:cNvPr>
          <p:cNvPicPr>
            <a:picLocks noGrp="1" noChangeAspect="1"/>
          </p:cNvPicPr>
          <p:nvPr>
            <p:ph idx="1"/>
          </p:nvPr>
        </p:nvPicPr>
        <p:blipFill>
          <a:blip r:embed="rId2"/>
          <a:stretch>
            <a:fillRect/>
          </a:stretch>
        </p:blipFill>
        <p:spPr>
          <a:xfrm>
            <a:off x="1631504" y="2117784"/>
            <a:ext cx="4032448" cy="4651605"/>
          </a:xfrm>
          <a:prstGeom prst="rect">
            <a:avLst/>
          </a:prstGeom>
        </p:spPr>
      </p:pic>
      <p:pic>
        <p:nvPicPr>
          <p:cNvPr id="7" name="Picture 6" descr="The graph shows the distribution of CO2 electrochemical sensor readings, with values ranging from 0 to 6000, indicating different concentration levels.&#10;&#10;AI-generated content may be incorrect.">
            <a:extLst>
              <a:ext uri="{FF2B5EF4-FFF2-40B4-BE49-F238E27FC236}">
                <a16:creationId xmlns:a16="http://schemas.microsoft.com/office/drawing/2014/main" id="{16B6A57D-710D-A629-DB11-FF49EF5A727B}"/>
              </a:ext>
            </a:extLst>
          </p:cNvPr>
          <p:cNvPicPr>
            <a:picLocks noChangeAspect="1"/>
          </p:cNvPicPr>
          <p:nvPr/>
        </p:nvPicPr>
        <p:blipFill>
          <a:blip r:embed="rId3"/>
          <a:stretch>
            <a:fillRect/>
          </a:stretch>
        </p:blipFill>
        <p:spPr>
          <a:xfrm>
            <a:off x="6110242" y="2117784"/>
            <a:ext cx="4810160" cy="4781585"/>
          </a:xfrm>
          <a:prstGeom prst="rect">
            <a:avLst/>
          </a:prstGeom>
        </p:spPr>
      </p:pic>
    </p:spTree>
    <p:extLst>
      <p:ext uri="{BB962C8B-B14F-4D97-AF65-F5344CB8AC3E}">
        <p14:creationId xmlns:p14="http://schemas.microsoft.com/office/powerpoint/2010/main" val="147004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D5173B-3BDD-6C23-CC01-389AA95C3022}"/>
              </a:ext>
            </a:extLst>
          </p:cNvPr>
          <p:cNvPicPr>
            <a:picLocks noGrp="1" noChangeAspect="1"/>
          </p:cNvPicPr>
          <p:nvPr>
            <p:ph idx="1"/>
          </p:nvPr>
        </p:nvPicPr>
        <p:blipFill>
          <a:blip r:embed="rId2"/>
          <a:stretch>
            <a:fillRect/>
          </a:stretch>
        </p:blipFill>
        <p:spPr>
          <a:xfrm>
            <a:off x="2883986" y="116632"/>
            <a:ext cx="8558665" cy="3024336"/>
          </a:xfrm>
          <a:prstGeom prst="rect">
            <a:avLst/>
          </a:prstGeom>
        </p:spPr>
      </p:pic>
      <p:pic>
        <p:nvPicPr>
          <p:cNvPr id="7" name="Picture 6" descr="The image displays a histogram and box plot representing the distribution of CO2 levels measured by an electrochemical sensor.&#10;&#10;AI-generated content may be incorrect.">
            <a:extLst>
              <a:ext uri="{FF2B5EF4-FFF2-40B4-BE49-F238E27FC236}">
                <a16:creationId xmlns:a16="http://schemas.microsoft.com/office/drawing/2014/main" id="{C3EC1EA6-6F94-A2CF-5E05-6BE046879DCD}"/>
              </a:ext>
            </a:extLst>
          </p:cNvPr>
          <p:cNvPicPr>
            <a:picLocks noChangeAspect="1"/>
          </p:cNvPicPr>
          <p:nvPr/>
        </p:nvPicPr>
        <p:blipFill>
          <a:blip r:embed="rId3"/>
          <a:stretch>
            <a:fillRect/>
          </a:stretch>
        </p:blipFill>
        <p:spPr>
          <a:xfrm>
            <a:off x="191344" y="3429000"/>
            <a:ext cx="8542219" cy="3111857"/>
          </a:xfrm>
          <a:prstGeom prst="rect">
            <a:avLst/>
          </a:prstGeom>
        </p:spPr>
      </p:pic>
    </p:spTree>
    <p:extLst>
      <p:ext uri="{BB962C8B-B14F-4D97-AF65-F5344CB8AC3E}">
        <p14:creationId xmlns:p14="http://schemas.microsoft.com/office/powerpoint/2010/main" val="4110599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FC2FF-45E2-F273-3BD1-4A288D077C3E}"/>
              </a:ext>
            </a:extLst>
          </p:cNvPr>
          <p:cNvSpPr>
            <a:spLocks noGrp="1"/>
          </p:cNvSpPr>
          <p:nvPr>
            <p:ph type="title"/>
          </p:nvPr>
        </p:nvSpPr>
        <p:spPr/>
        <p:txBody>
          <a:bodyPr/>
          <a:lstStyle/>
          <a:p>
            <a:r>
              <a:rPr lang="en-SG" dirty="0"/>
              <a:t>CO2 GAS SENSOR</a:t>
            </a:r>
          </a:p>
        </p:txBody>
      </p:sp>
      <p:pic>
        <p:nvPicPr>
          <p:cNvPr id="5" name="Content Placeholder 4" descr="The image depicts a bar chart illustrating the distribution of CO (carbon monoxide) levels detected by gas sensors, with values ranging from 0 to 4.0 on the y-axis and sensor counts on the x-axis.&#10;&#10;AI-generated content may be incorrect.">
            <a:extLst>
              <a:ext uri="{FF2B5EF4-FFF2-40B4-BE49-F238E27FC236}">
                <a16:creationId xmlns:a16="http://schemas.microsoft.com/office/drawing/2014/main" id="{A22F8AFF-E68A-52AE-D1F1-1E359157B944}"/>
              </a:ext>
            </a:extLst>
          </p:cNvPr>
          <p:cNvPicPr>
            <a:picLocks noGrp="1" noChangeAspect="1"/>
          </p:cNvPicPr>
          <p:nvPr>
            <p:ph idx="1"/>
          </p:nvPr>
        </p:nvPicPr>
        <p:blipFill>
          <a:blip r:embed="rId2"/>
          <a:stretch>
            <a:fillRect/>
          </a:stretch>
        </p:blipFill>
        <p:spPr>
          <a:xfrm>
            <a:off x="911424" y="1988840"/>
            <a:ext cx="4867311" cy="4086255"/>
          </a:xfrm>
          <a:prstGeom prst="rect">
            <a:avLst/>
          </a:prstGeom>
        </p:spPr>
      </p:pic>
      <p:sp>
        <p:nvSpPr>
          <p:cNvPr id="6" name="TextBox 5">
            <a:extLst>
              <a:ext uri="{FF2B5EF4-FFF2-40B4-BE49-F238E27FC236}">
                <a16:creationId xmlns:a16="http://schemas.microsoft.com/office/drawing/2014/main" id="{3D0B7B19-9F58-29A1-145A-40C4B8159D73}"/>
              </a:ext>
            </a:extLst>
          </p:cNvPr>
          <p:cNvSpPr txBox="1"/>
          <p:nvPr/>
        </p:nvSpPr>
        <p:spPr>
          <a:xfrm>
            <a:off x="6312024" y="1988840"/>
            <a:ext cx="5264279" cy="2862322"/>
          </a:xfrm>
          <a:prstGeom prst="rect">
            <a:avLst/>
          </a:prstGeom>
          <a:noFill/>
        </p:spPr>
        <p:txBody>
          <a:bodyPr wrap="square" rtlCol="0">
            <a:spAutoFit/>
          </a:bodyPr>
          <a:lstStyle/>
          <a:p>
            <a:r>
              <a:rPr lang="en-US" dirty="0"/>
              <a:t>This chart illustrates the frequency distribution of different categories or states registered by a </a:t>
            </a:r>
            <a:r>
              <a:rPr lang="en-US" b="1" dirty="0"/>
              <a:t>CO (Carbon Monoxide) Gas Sensor</a:t>
            </a:r>
            <a:r>
              <a:rPr lang="en-US" dirty="0"/>
              <a:t>. Unlike the previous continuous histograms, this data is categorical or discrete (labeled 0.0 through 4.0), sorted from most frequent to least frequent. State 1.0 is overwhelmingly the most common reading with over 4,500 occurrences, followed sequentially by 2.0, 0.0, 3.0, and finally 4.0 which has the fewest readings.</a:t>
            </a:r>
            <a:endParaRPr lang="en-SG" dirty="0"/>
          </a:p>
        </p:txBody>
      </p:sp>
    </p:spTree>
    <p:extLst>
      <p:ext uri="{BB962C8B-B14F-4D97-AF65-F5344CB8AC3E}">
        <p14:creationId xmlns:p14="http://schemas.microsoft.com/office/powerpoint/2010/main" val="220179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25911-33A1-F5D4-0C00-EF83A8C60CB0}"/>
              </a:ext>
            </a:extLst>
          </p:cNvPr>
          <p:cNvSpPr>
            <a:spLocks noGrp="1"/>
          </p:cNvSpPr>
          <p:nvPr>
            <p:ph type="title"/>
          </p:nvPr>
        </p:nvSpPr>
        <p:spPr/>
        <p:txBody>
          <a:bodyPr/>
          <a:lstStyle/>
          <a:p>
            <a:r>
              <a:rPr lang="en-SG" dirty="0" err="1"/>
              <a:t>Metaloxide</a:t>
            </a:r>
            <a:r>
              <a:rPr lang="en-SG" dirty="0"/>
              <a:t> sensor</a:t>
            </a:r>
          </a:p>
        </p:txBody>
      </p:sp>
      <p:pic>
        <p:nvPicPr>
          <p:cNvPr id="5" name="Content Placeholder 4" descr="The image displays two sets of distributions, presumably from different sensor units, showing counts of values in various ranges, with some units having a higher concentration around 500 and 700, and another unit with counts peaking around 400.&#10;&#10;AI-generated content may be incorrect.">
            <a:extLst>
              <a:ext uri="{FF2B5EF4-FFF2-40B4-BE49-F238E27FC236}">
                <a16:creationId xmlns:a16="http://schemas.microsoft.com/office/drawing/2014/main" id="{313876C2-72A0-2FFB-8EC0-4D1B63BBC317}"/>
              </a:ext>
            </a:extLst>
          </p:cNvPr>
          <p:cNvPicPr>
            <a:picLocks noGrp="1" noChangeAspect="1"/>
          </p:cNvPicPr>
          <p:nvPr>
            <p:ph idx="1"/>
          </p:nvPr>
        </p:nvPicPr>
        <p:blipFill>
          <a:blip r:embed="rId2"/>
          <a:stretch>
            <a:fillRect/>
          </a:stretch>
        </p:blipFill>
        <p:spPr>
          <a:xfrm>
            <a:off x="924176" y="1700808"/>
            <a:ext cx="5170299" cy="4343400"/>
          </a:xfrm>
          <a:prstGeom prst="rect">
            <a:avLst/>
          </a:prstGeom>
        </p:spPr>
      </p:pic>
      <p:sp>
        <p:nvSpPr>
          <p:cNvPr id="6" name="TextBox 5">
            <a:extLst>
              <a:ext uri="{FF2B5EF4-FFF2-40B4-BE49-F238E27FC236}">
                <a16:creationId xmlns:a16="http://schemas.microsoft.com/office/drawing/2014/main" id="{30BC430A-2BA7-6C76-18F6-AA0614DAD8F6}"/>
              </a:ext>
            </a:extLst>
          </p:cNvPr>
          <p:cNvSpPr txBox="1"/>
          <p:nvPr/>
        </p:nvSpPr>
        <p:spPr>
          <a:xfrm>
            <a:off x="6600056" y="1628800"/>
            <a:ext cx="5112568" cy="4801314"/>
          </a:xfrm>
          <a:prstGeom prst="rect">
            <a:avLst/>
          </a:prstGeom>
          <a:noFill/>
        </p:spPr>
        <p:txBody>
          <a:bodyPr wrap="square" rtlCol="0">
            <a:spAutoFit/>
          </a:bodyPr>
          <a:lstStyle/>
          <a:p>
            <a:r>
              <a:rPr lang="en-US" dirty="0"/>
              <a:t>Combined together, these four visualizations represent a comprehensive exploratory data analysis (EDA) of an environmental or industrial monitoring dataset consisting of roughly 10,000 observations. The continuous variables display distinct structural patterns: </a:t>
            </a:r>
            <a:r>
              <a:rPr lang="en-US" b="1" dirty="0"/>
              <a:t>Temperature</a:t>
            </a:r>
            <a:r>
              <a:rPr lang="en-US" dirty="0"/>
              <a:t> is highly polarized (bimodal) between an extremely low and a very high range; </a:t>
            </a:r>
            <a:r>
              <a:rPr lang="en-US" b="1" dirty="0"/>
              <a:t>Humidity</a:t>
            </a:r>
            <a:r>
              <a:rPr lang="en-US" dirty="0"/>
              <a:t> clusters centrally between 0% and 100% (though it contains some out-of-bounds noise below 0 and above 100); and all four </a:t>
            </a:r>
            <a:r>
              <a:rPr lang="en-US" b="1" dirty="0"/>
              <a:t>Metal Oxide Sensors</a:t>
            </a:r>
            <a:r>
              <a:rPr lang="en-US" dirty="0"/>
              <a:t> exhibit similar bimodal distributions with a dominant primary peak and a smaller secondary shoulder. Meanwhile, the discrete </a:t>
            </a:r>
            <a:r>
              <a:rPr lang="en-US" b="1" dirty="0"/>
              <a:t>CO Gas Sensor</a:t>
            </a:r>
            <a:r>
              <a:rPr lang="en-US" dirty="0"/>
              <a:t> tracking categorizes the data into five sequential operational states, heavily dominated by state 1.0.</a:t>
            </a:r>
            <a:endParaRPr lang="en-SG" dirty="0"/>
          </a:p>
        </p:txBody>
      </p:sp>
    </p:spTree>
    <p:extLst>
      <p:ext uri="{BB962C8B-B14F-4D97-AF65-F5344CB8AC3E}">
        <p14:creationId xmlns:p14="http://schemas.microsoft.com/office/powerpoint/2010/main" val="4152866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4A1DC-9D20-F98D-1DAF-EA4404A572C3}"/>
              </a:ext>
            </a:extLst>
          </p:cNvPr>
          <p:cNvSpPr>
            <a:spLocks noGrp="1"/>
          </p:cNvSpPr>
          <p:nvPr>
            <p:ph type="title"/>
          </p:nvPr>
        </p:nvSpPr>
        <p:spPr>
          <a:xfrm>
            <a:off x="612646" y="685800"/>
            <a:ext cx="3654554" cy="4550251"/>
          </a:xfrm>
        </p:spPr>
        <p:txBody>
          <a:bodyPr anchor="t">
            <a:normAutofit/>
          </a:bodyPr>
          <a:lstStyle/>
          <a:p>
            <a:r>
              <a:rPr lang="en-SG" dirty="0" err="1"/>
              <a:t>hvac</a:t>
            </a:r>
            <a:endParaRPr lang="en-SG" dirty="0"/>
          </a:p>
        </p:txBody>
      </p:sp>
      <p:pic>
        <p:nvPicPr>
          <p:cNvPr id="5" name="Content Placeholder 4" descr="The diagram illustrates a bar chart representing the distribution of various HVAC (Heating, Ventilation, and Air Conditioning) operation modes across different percentages, ranging from 0 to 1400, indicating the frequency of use for modes such as cooling, heating, eco mode, and maintenance.&#10;&#10;AI-generated content may be incorrect.">
            <a:extLst>
              <a:ext uri="{FF2B5EF4-FFF2-40B4-BE49-F238E27FC236}">
                <a16:creationId xmlns:a16="http://schemas.microsoft.com/office/drawing/2014/main" id="{82975718-7D09-5CA2-0BFD-724E5CFB2A41}"/>
              </a:ext>
            </a:extLst>
          </p:cNvPr>
          <p:cNvPicPr>
            <a:picLocks noGrp="1" noChangeAspect="1"/>
          </p:cNvPicPr>
          <p:nvPr>
            <p:ph sz="quarter" idx="13"/>
          </p:nvPr>
        </p:nvPicPr>
        <p:blipFill>
          <a:blip r:embed="rId2"/>
          <a:stretch>
            <a:fillRect/>
          </a:stretch>
        </p:blipFill>
        <p:spPr>
          <a:xfrm>
            <a:off x="263352" y="1772816"/>
            <a:ext cx="4802374" cy="4550251"/>
          </a:xfrm>
          <a:prstGeom prst="rect">
            <a:avLst/>
          </a:prstGeom>
          <a:noFill/>
        </p:spPr>
      </p:pic>
      <p:sp>
        <p:nvSpPr>
          <p:cNvPr id="6" name="TextBox 5">
            <a:extLst>
              <a:ext uri="{FF2B5EF4-FFF2-40B4-BE49-F238E27FC236}">
                <a16:creationId xmlns:a16="http://schemas.microsoft.com/office/drawing/2014/main" id="{4C7F6050-C4E5-3FAA-2638-D460E3CB45F9}"/>
              </a:ext>
            </a:extLst>
          </p:cNvPr>
          <p:cNvSpPr txBox="1"/>
          <p:nvPr/>
        </p:nvSpPr>
        <p:spPr>
          <a:xfrm>
            <a:off x="5884206" y="1628800"/>
            <a:ext cx="5695148" cy="3970318"/>
          </a:xfrm>
          <a:prstGeom prst="rect">
            <a:avLst/>
          </a:prstGeom>
          <a:noFill/>
        </p:spPr>
        <p:txBody>
          <a:bodyPr wrap="square" rtlCol="0">
            <a:spAutoFit/>
          </a:bodyPr>
          <a:lstStyle/>
          <a:p>
            <a:r>
              <a:rPr lang="en-US" dirty="0"/>
              <a:t>This bar chart illustrates the frequency distribution of different </a:t>
            </a:r>
            <a:r>
              <a:rPr lang="en-US" b="1" dirty="0"/>
              <a:t>HVAC Operation Modes</a:t>
            </a:r>
            <a:r>
              <a:rPr lang="en-US" dirty="0"/>
              <a:t> within the dataset. It reveals a highly imbalanced categorization dominated by six main operational states (</a:t>
            </a:r>
            <a:r>
              <a:rPr lang="en-US" dirty="0" err="1"/>
              <a:t>cooling_active</a:t>
            </a:r>
            <a:r>
              <a:rPr lang="en-US" dirty="0"/>
              <a:t>, </a:t>
            </a:r>
            <a:r>
              <a:rPr lang="en-US" dirty="0" err="1"/>
              <a:t>maintenance_mode</a:t>
            </a:r>
            <a:r>
              <a:rPr lang="en-US" dirty="0"/>
              <a:t>, </a:t>
            </a:r>
            <a:r>
              <a:rPr lang="en-US" dirty="0" err="1"/>
              <a:t>heating_active</a:t>
            </a:r>
            <a:r>
              <a:rPr lang="en-US" dirty="0"/>
              <a:t>, </a:t>
            </a:r>
            <a:r>
              <a:rPr lang="en-US" dirty="0" err="1"/>
              <a:t>eco_mode</a:t>
            </a:r>
            <a:r>
              <a:rPr lang="en-US" dirty="0"/>
              <a:t>, </a:t>
            </a:r>
            <a:r>
              <a:rPr lang="en-US" dirty="0" err="1"/>
              <a:t>ventilation_only</a:t>
            </a:r>
            <a:r>
              <a:rPr lang="en-US" dirty="0"/>
              <a:t>, and another </a:t>
            </a:r>
            <a:r>
              <a:rPr lang="en-US" dirty="0" err="1"/>
              <a:t>eco_mode</a:t>
            </a:r>
            <a:r>
              <a:rPr lang="en-US" dirty="0"/>
              <a:t> variation), each registering roughly 1,400 to 1,500 occurrences. The remaining categories appear significantly less often, each dropping to a count of under 200. Additionally, the data suffers from inconsistent naming conventions and duplicate labels with varying casing (e.g., </a:t>
            </a:r>
            <a:r>
              <a:rPr lang="en-US" dirty="0" err="1"/>
              <a:t>cooling_active</a:t>
            </a:r>
            <a:r>
              <a:rPr lang="en-US" dirty="0"/>
              <a:t> vs COOLING_ACTIVE, </a:t>
            </a:r>
            <a:r>
              <a:rPr lang="en-US" dirty="0" err="1"/>
              <a:t>eco_mode</a:t>
            </a:r>
            <a:r>
              <a:rPr lang="en-US" dirty="0"/>
              <a:t> vs </a:t>
            </a:r>
            <a:r>
              <a:rPr lang="en-US" dirty="0" err="1"/>
              <a:t>Eco_mode</a:t>
            </a:r>
            <a:r>
              <a:rPr lang="en-US" dirty="0"/>
              <a:t> vs ECO_MODE), indicating a clear need for data cleaning and text standardization.</a:t>
            </a:r>
            <a:endParaRPr lang="en-SG" dirty="0"/>
          </a:p>
        </p:txBody>
      </p:sp>
    </p:spTree>
    <p:extLst>
      <p:ext uri="{BB962C8B-B14F-4D97-AF65-F5344CB8AC3E}">
        <p14:creationId xmlns:p14="http://schemas.microsoft.com/office/powerpoint/2010/main" val="2498709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76616-11E0-5261-8AB1-AC32BCE5153A}"/>
              </a:ext>
            </a:extLst>
          </p:cNvPr>
          <p:cNvSpPr>
            <a:spLocks noGrp="1"/>
          </p:cNvSpPr>
          <p:nvPr>
            <p:ph type="title"/>
          </p:nvPr>
        </p:nvSpPr>
        <p:spPr>
          <a:xfrm>
            <a:off x="335360" y="-675456"/>
            <a:ext cx="7683562" cy="1996301"/>
          </a:xfrm>
        </p:spPr>
        <p:txBody>
          <a:bodyPr vert="horz" lIns="91440" tIns="45720" rIns="91440" bIns="45720" rtlCol="0" anchor="b">
            <a:normAutofit/>
          </a:bodyPr>
          <a:lstStyle/>
          <a:p>
            <a:r>
              <a:rPr lang="en-US" sz="5000" b="0" i="0" kern="1200" cap="all" spc="0" baseline="0" dirty="0">
                <a:latin typeface="+mj-lt"/>
                <a:ea typeface="+mj-ea"/>
                <a:cs typeface="+mj-cs"/>
              </a:rPr>
              <a:t>Ambient Light Level</a:t>
            </a:r>
          </a:p>
        </p:txBody>
      </p:sp>
      <p:sp>
        <p:nvSpPr>
          <p:cNvPr id="6" name="TextBox 5">
            <a:extLst>
              <a:ext uri="{FF2B5EF4-FFF2-40B4-BE49-F238E27FC236}">
                <a16:creationId xmlns:a16="http://schemas.microsoft.com/office/drawing/2014/main" id="{444BDDC1-9094-FAE4-213D-CF87B946C58D}"/>
              </a:ext>
            </a:extLst>
          </p:cNvPr>
          <p:cNvSpPr txBox="1"/>
          <p:nvPr/>
        </p:nvSpPr>
        <p:spPr>
          <a:xfrm>
            <a:off x="6096000" y="1890370"/>
            <a:ext cx="5744438" cy="4248472"/>
          </a:xfrm>
          <a:prstGeom prst="rect">
            <a:avLst/>
          </a:prstGeom>
        </p:spPr>
        <p:txBody>
          <a:bodyPr vert="horz" lIns="91440" tIns="45720" rIns="91440" bIns="45720" rtlCol="0">
            <a:noAutofit/>
          </a:bodyPr>
          <a:lstStyle/>
          <a:p>
            <a:pPr>
              <a:spcBef>
                <a:spcPts val="1000"/>
              </a:spcBef>
            </a:pPr>
            <a:r>
              <a:rPr lang="en-US" sz="2000" dirty="0">
                <a:solidFill>
                  <a:schemeClr val="tx2"/>
                </a:solidFill>
              </a:rPr>
              <a:t>This bar chart shows the distribution of Ambient Light Levels recorded across five distinct ordinal categories. The data follows a clear downward trend from left to right, meaning that brighter conditions are much more frequently represented in this dataset than darker ones. Specifically, the "</a:t>
            </a:r>
            <a:r>
              <a:rPr lang="en-US" sz="2000" dirty="0" err="1">
                <a:solidFill>
                  <a:schemeClr val="tx2"/>
                </a:solidFill>
              </a:rPr>
              <a:t>very_bright</a:t>
            </a:r>
            <a:r>
              <a:rPr lang="en-US" sz="2000" dirty="0">
                <a:solidFill>
                  <a:schemeClr val="tx2"/>
                </a:solidFill>
              </a:rPr>
              <a:t>" category has the highest frequency with over 3,300 counts, followed by "bright" (around 2,700), "moderate" (around 1,500), "dim" (around 850), and finally "</a:t>
            </a:r>
            <a:r>
              <a:rPr lang="en-US" sz="2000" dirty="0" err="1">
                <a:solidFill>
                  <a:schemeClr val="tx2"/>
                </a:solidFill>
              </a:rPr>
              <a:t>very_dim</a:t>
            </a:r>
            <a:r>
              <a:rPr lang="en-US" sz="2000" dirty="0">
                <a:solidFill>
                  <a:schemeClr val="tx2"/>
                </a:solidFill>
              </a:rPr>
              <a:t>" which has the fewest readings at roughly 500 counts.</a:t>
            </a:r>
          </a:p>
        </p:txBody>
      </p:sp>
      <p:pic>
        <p:nvPicPr>
          <p:cNvPr id="5" name="Content Placeholder 4" descr="The diagram depicts a distribution of ambient light levels, with values ranging from 0 to 3500 and categories including 'very bright', 'bright', 'moderate', and 'very dim'.&#10;&#10;AI-generated content may be incorrect.">
            <a:extLst>
              <a:ext uri="{FF2B5EF4-FFF2-40B4-BE49-F238E27FC236}">
                <a16:creationId xmlns:a16="http://schemas.microsoft.com/office/drawing/2014/main" id="{DFB1BBC0-3005-3858-7225-218AE3A3A9E6}"/>
              </a:ext>
            </a:extLst>
          </p:cNvPr>
          <p:cNvPicPr>
            <a:picLocks noGrp="1" noChangeAspect="1"/>
          </p:cNvPicPr>
          <p:nvPr>
            <p:ph type="pic" sz="quarter" idx="13"/>
          </p:nvPr>
        </p:nvPicPr>
        <p:blipFill>
          <a:blip r:embed="rId2"/>
          <a:stretch/>
        </p:blipFill>
        <p:spPr>
          <a:xfrm>
            <a:off x="351562" y="1916832"/>
            <a:ext cx="5090141" cy="4581128"/>
          </a:xfrm>
          <a:prstGeom prst="rect">
            <a:avLst/>
          </a:prstGeom>
          <a:noFill/>
        </p:spPr>
      </p:pic>
    </p:spTree>
    <p:extLst>
      <p:ext uri="{BB962C8B-B14F-4D97-AF65-F5344CB8AC3E}">
        <p14:creationId xmlns:p14="http://schemas.microsoft.com/office/powerpoint/2010/main" val="785725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45520-D112-7AF3-764E-983D46487384}"/>
              </a:ext>
            </a:extLst>
          </p:cNvPr>
          <p:cNvSpPr>
            <a:spLocks noGrp="1"/>
          </p:cNvSpPr>
          <p:nvPr>
            <p:ph type="title"/>
          </p:nvPr>
        </p:nvSpPr>
        <p:spPr>
          <a:xfrm>
            <a:off x="612646" y="685800"/>
            <a:ext cx="5771386" cy="4550251"/>
          </a:xfrm>
        </p:spPr>
        <p:txBody>
          <a:bodyPr anchor="t">
            <a:normAutofit/>
          </a:bodyPr>
          <a:lstStyle/>
          <a:p>
            <a:r>
              <a:rPr lang="en-SG" dirty="0"/>
              <a:t>Activity level</a:t>
            </a:r>
          </a:p>
        </p:txBody>
      </p:sp>
      <p:pic>
        <p:nvPicPr>
          <p:cNvPr id="5" name="Content Placeholder 4" descr="The diagram depicts a bar chart showing the distribution of activity levels across different categories, with counts ranging from 0 to 5000.&#10;&#10;AI-generated content may be incorrect.">
            <a:extLst>
              <a:ext uri="{FF2B5EF4-FFF2-40B4-BE49-F238E27FC236}">
                <a16:creationId xmlns:a16="http://schemas.microsoft.com/office/drawing/2014/main" id="{1E1370AD-93D8-E9E5-DBAA-F4E2F6ED3F65}"/>
              </a:ext>
            </a:extLst>
          </p:cNvPr>
          <p:cNvPicPr>
            <a:picLocks noGrp="1" noChangeAspect="1"/>
          </p:cNvPicPr>
          <p:nvPr>
            <p:ph sz="quarter" idx="13"/>
          </p:nvPr>
        </p:nvPicPr>
        <p:blipFill>
          <a:blip r:embed="rId2"/>
          <a:stretch>
            <a:fillRect/>
          </a:stretch>
        </p:blipFill>
        <p:spPr>
          <a:xfrm>
            <a:off x="6528048" y="862371"/>
            <a:ext cx="5347144" cy="5133258"/>
          </a:xfrm>
          <a:prstGeom prst="rect">
            <a:avLst/>
          </a:prstGeom>
          <a:noFill/>
        </p:spPr>
      </p:pic>
      <p:sp>
        <p:nvSpPr>
          <p:cNvPr id="6" name="TextBox 5">
            <a:extLst>
              <a:ext uri="{FF2B5EF4-FFF2-40B4-BE49-F238E27FC236}">
                <a16:creationId xmlns:a16="http://schemas.microsoft.com/office/drawing/2014/main" id="{1A724988-80CD-7ACE-3C14-203403F3DE9E}"/>
              </a:ext>
            </a:extLst>
          </p:cNvPr>
          <p:cNvSpPr txBox="1"/>
          <p:nvPr/>
        </p:nvSpPr>
        <p:spPr>
          <a:xfrm>
            <a:off x="551384" y="1621949"/>
            <a:ext cx="5688632" cy="3416320"/>
          </a:xfrm>
          <a:prstGeom prst="rect">
            <a:avLst/>
          </a:prstGeom>
          <a:noFill/>
        </p:spPr>
        <p:txBody>
          <a:bodyPr wrap="square" rtlCol="0">
            <a:spAutoFit/>
          </a:bodyPr>
          <a:lstStyle/>
          <a:p>
            <a:r>
              <a:rPr lang="en-US" dirty="0"/>
              <a:t>This bar chart shows the distribution of "Activity Level" data across six categorical labels. The dataset is heavily skewed toward lower movement states, with "Low Activity" being by far the most frequent level at over 5,200 counts, followed by "Moderate Activity" (around 2,800) and "High Activity" (around 1,100). Similar to the HVAC data, this variable contains naming inconsistencies and duplicate categories with different formatting—such as "Moderate Activity" vs "</a:t>
            </a:r>
            <a:r>
              <a:rPr lang="en-US" dirty="0" err="1"/>
              <a:t>ModerateActivity</a:t>
            </a:r>
            <a:r>
              <a:rPr lang="en-US" dirty="0"/>
              <a:t>" and "Low Activity" vs "</a:t>
            </a:r>
            <a:r>
              <a:rPr lang="en-US" dirty="0" err="1"/>
              <a:t>Low_Activity</a:t>
            </a:r>
            <a:r>
              <a:rPr lang="en-US" dirty="0"/>
              <a:t>" vs "</a:t>
            </a:r>
            <a:r>
              <a:rPr lang="en-US" dirty="0" err="1"/>
              <a:t>LowActivity</a:t>
            </a:r>
            <a:r>
              <a:rPr lang="en-US" dirty="0"/>
              <a:t>"—that will need to be combined during data cleaning.</a:t>
            </a:r>
            <a:endParaRPr lang="en-SG" dirty="0"/>
          </a:p>
        </p:txBody>
      </p:sp>
    </p:spTree>
    <p:extLst>
      <p:ext uri="{BB962C8B-B14F-4D97-AF65-F5344CB8AC3E}">
        <p14:creationId xmlns:p14="http://schemas.microsoft.com/office/powerpoint/2010/main" val="748975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A816-5C1B-40BC-3690-8801F897016A}"/>
              </a:ext>
            </a:extLst>
          </p:cNvPr>
          <p:cNvSpPr>
            <a:spLocks noGrp="1"/>
          </p:cNvSpPr>
          <p:nvPr>
            <p:ph type="ctrTitle"/>
          </p:nvPr>
        </p:nvSpPr>
        <p:spPr/>
        <p:txBody>
          <a:bodyPr/>
          <a:lstStyle/>
          <a:p>
            <a:r>
              <a:rPr lang="en-SG" dirty="0"/>
              <a:t>MODELS</a:t>
            </a:r>
          </a:p>
        </p:txBody>
      </p:sp>
    </p:spTree>
    <p:extLst>
      <p:ext uri="{BB962C8B-B14F-4D97-AF65-F5344CB8AC3E}">
        <p14:creationId xmlns:p14="http://schemas.microsoft.com/office/powerpoint/2010/main" val="74595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378AE-EF7F-6F80-0A73-BD8BFF959868}"/>
              </a:ext>
            </a:extLst>
          </p:cNvPr>
          <p:cNvSpPr>
            <a:spLocks noGrp="1"/>
          </p:cNvSpPr>
          <p:nvPr>
            <p:ph type="title"/>
          </p:nvPr>
        </p:nvSpPr>
        <p:spPr>
          <a:xfrm>
            <a:off x="612185" y="685800"/>
            <a:ext cx="9141415" cy="1532788"/>
          </a:xfrm>
        </p:spPr>
        <p:txBody>
          <a:bodyPr anchor="b">
            <a:normAutofit/>
          </a:bodyPr>
          <a:lstStyle/>
          <a:p>
            <a:r>
              <a:rPr lang="en-SG" dirty="0"/>
              <a:t>Random Forest</a:t>
            </a:r>
          </a:p>
        </p:txBody>
      </p:sp>
      <p:sp>
        <p:nvSpPr>
          <p:cNvPr id="3" name="Content Placeholder 2">
            <a:extLst>
              <a:ext uri="{FF2B5EF4-FFF2-40B4-BE49-F238E27FC236}">
                <a16:creationId xmlns:a16="http://schemas.microsoft.com/office/drawing/2014/main" id="{33D49B3D-8C9C-5AA3-92F1-70026ADA236D}"/>
              </a:ext>
            </a:extLst>
          </p:cNvPr>
          <p:cNvSpPr>
            <a:spLocks noGrp="1"/>
          </p:cNvSpPr>
          <p:nvPr>
            <p:ph sz="quarter" idx="13"/>
          </p:nvPr>
        </p:nvSpPr>
        <p:spPr>
          <a:xfrm>
            <a:off x="612185" y="2958705"/>
            <a:ext cx="9141415" cy="3213494"/>
          </a:xfrm>
        </p:spPr>
        <p:txBody>
          <a:bodyPr anchor="t">
            <a:normAutofit/>
          </a:bodyPr>
          <a:lstStyle/>
          <a:p>
            <a:r>
              <a:rPr lang="en-US" b="1" dirty="0"/>
              <a:t>Ensemble</a:t>
            </a:r>
            <a:r>
              <a:rPr lang="en-US" dirty="0"/>
              <a:t> — A technique that combines multiple weak models (decision trees) to produce a stronger prediction. Random Forest builds hundreds of trees on random subsets of data and averages their outputs, reducing overfitting compared to a single tree.</a:t>
            </a:r>
          </a:p>
          <a:p>
            <a:r>
              <a:rPr lang="en-US" b="1" dirty="0" err="1"/>
              <a:t>n_estimators</a:t>
            </a:r>
            <a:r>
              <a:rPr lang="en-US" dirty="0"/>
              <a:t> — The number of decision trees in the Random Forest. More trees generally improve performance but increase training time. RF sweeps this from 10 to 300 to find the optimal value.</a:t>
            </a:r>
          </a:p>
          <a:p>
            <a:endParaRPr lang="en-SG" dirty="0"/>
          </a:p>
        </p:txBody>
      </p:sp>
    </p:spTree>
    <p:extLst>
      <p:ext uri="{BB962C8B-B14F-4D97-AF65-F5344CB8AC3E}">
        <p14:creationId xmlns:p14="http://schemas.microsoft.com/office/powerpoint/2010/main" val="512507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0EA7F-C1F0-A036-A564-A533B5D04308}"/>
              </a:ext>
            </a:extLst>
          </p:cNvPr>
          <p:cNvSpPr>
            <a:spLocks noGrp="1"/>
          </p:cNvSpPr>
          <p:nvPr>
            <p:ph type="title"/>
          </p:nvPr>
        </p:nvSpPr>
        <p:spPr>
          <a:xfrm>
            <a:off x="612185" y="685800"/>
            <a:ext cx="9141415" cy="1532788"/>
          </a:xfrm>
        </p:spPr>
        <p:txBody>
          <a:bodyPr anchor="b">
            <a:normAutofit/>
          </a:bodyPr>
          <a:lstStyle/>
          <a:p>
            <a:r>
              <a:rPr lang="en-SG" sz="6100" b="1"/>
              <a:t>K-Nearest </a:t>
            </a:r>
            <a:r>
              <a:rPr lang="en-SG" sz="6100" b="1" err="1"/>
              <a:t>Neighbors</a:t>
            </a:r>
            <a:endParaRPr lang="en-SG" sz="6100"/>
          </a:p>
        </p:txBody>
      </p:sp>
      <p:sp>
        <p:nvSpPr>
          <p:cNvPr id="3" name="Content Placeholder 2">
            <a:extLst>
              <a:ext uri="{FF2B5EF4-FFF2-40B4-BE49-F238E27FC236}">
                <a16:creationId xmlns:a16="http://schemas.microsoft.com/office/drawing/2014/main" id="{FA018F92-7D93-B0E9-B040-E5DC74976F11}"/>
              </a:ext>
            </a:extLst>
          </p:cNvPr>
          <p:cNvSpPr>
            <a:spLocks noGrp="1"/>
          </p:cNvSpPr>
          <p:nvPr>
            <p:ph sz="quarter" idx="13"/>
          </p:nvPr>
        </p:nvSpPr>
        <p:spPr>
          <a:xfrm>
            <a:off x="612185" y="2958705"/>
            <a:ext cx="9141415" cy="3213494"/>
          </a:xfrm>
        </p:spPr>
        <p:txBody>
          <a:bodyPr anchor="t">
            <a:normAutofit/>
          </a:bodyPr>
          <a:lstStyle/>
          <a:p>
            <a:r>
              <a:rPr lang="en-US" b="1" dirty="0" err="1"/>
              <a:t>GridSearchCV</a:t>
            </a:r>
            <a:r>
              <a:rPr lang="en-US" dirty="0"/>
              <a:t> — An automated search that tries every combination of hyperparameters (e.g., different neighbor counts and distance metrics for KNN) using cross-validation, then picks the combination with the best score.</a:t>
            </a:r>
            <a:endParaRPr lang="en-SG" dirty="0"/>
          </a:p>
        </p:txBody>
      </p:sp>
    </p:spTree>
    <p:extLst>
      <p:ext uri="{BB962C8B-B14F-4D97-AF65-F5344CB8AC3E}">
        <p14:creationId xmlns:p14="http://schemas.microsoft.com/office/powerpoint/2010/main" val="4219239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09645-A35C-9C66-D06C-2C2757020AAE}"/>
              </a:ext>
            </a:extLst>
          </p:cNvPr>
          <p:cNvSpPr>
            <a:spLocks noGrp="1"/>
          </p:cNvSpPr>
          <p:nvPr>
            <p:ph type="title"/>
          </p:nvPr>
        </p:nvSpPr>
        <p:spPr>
          <a:xfrm>
            <a:off x="612648" y="685800"/>
            <a:ext cx="10972800" cy="1828800"/>
          </a:xfrm>
        </p:spPr>
        <p:txBody>
          <a:bodyPr anchor="b">
            <a:normAutofit/>
          </a:bodyPr>
          <a:lstStyle/>
          <a:p>
            <a:r>
              <a:rPr lang="en-SG" sz="7000" b="1" dirty="0"/>
              <a:t>Logistic Regression</a:t>
            </a:r>
            <a:endParaRPr lang="en-SG" sz="7000" dirty="0"/>
          </a:p>
        </p:txBody>
      </p:sp>
      <p:sp>
        <p:nvSpPr>
          <p:cNvPr id="3" name="Content Placeholder 2">
            <a:extLst>
              <a:ext uri="{FF2B5EF4-FFF2-40B4-BE49-F238E27FC236}">
                <a16:creationId xmlns:a16="http://schemas.microsoft.com/office/drawing/2014/main" id="{49697566-F9B1-0A03-784D-3E002FE11AFB}"/>
              </a:ext>
            </a:extLst>
          </p:cNvPr>
          <p:cNvSpPr>
            <a:spLocks noGrp="1"/>
          </p:cNvSpPr>
          <p:nvPr>
            <p:ph sz="quarter" idx="13"/>
          </p:nvPr>
        </p:nvSpPr>
        <p:spPr>
          <a:xfrm>
            <a:off x="612775" y="3429000"/>
            <a:ext cx="10972800" cy="2743198"/>
          </a:xfrm>
        </p:spPr>
        <p:txBody>
          <a:bodyPr>
            <a:normAutofit/>
          </a:bodyPr>
          <a:lstStyle/>
          <a:p>
            <a:pPr>
              <a:lnSpc>
                <a:spcPct val="90000"/>
              </a:lnSpc>
            </a:pPr>
            <a:r>
              <a:rPr lang="en-US" b="1" dirty="0"/>
              <a:t>Multinomial</a:t>
            </a:r>
            <a:r>
              <a:rPr lang="en-US" dirty="0"/>
              <a:t> — A classification strategy that treats all classes simultaneously using a </a:t>
            </a:r>
            <a:r>
              <a:rPr lang="en-US" dirty="0" err="1"/>
              <a:t>softmax</a:t>
            </a:r>
            <a:r>
              <a:rPr lang="en-US" dirty="0"/>
              <a:t> function, producing a probability for each class that sums to 1.</a:t>
            </a:r>
          </a:p>
          <a:p>
            <a:pPr>
              <a:lnSpc>
                <a:spcPct val="90000"/>
              </a:lnSpc>
            </a:pPr>
            <a:r>
              <a:rPr lang="en-US" b="1" dirty="0"/>
              <a:t>L2 regularization</a:t>
            </a:r>
            <a:r>
              <a:rPr lang="en-US" dirty="0"/>
              <a:t> — The default penalty in logistic regression. It adds the sum of squared coefficients to the loss function, </a:t>
            </a:r>
            <a:r>
              <a:rPr lang="en-US" dirty="0" err="1"/>
              <a:t>penalising</a:t>
            </a:r>
            <a:r>
              <a:rPr lang="en-US" dirty="0"/>
              <a:t> large coefficients and preventing overfitting. In scikit-learn 1.8, L2 is auto-selected when using the </a:t>
            </a:r>
            <a:r>
              <a:rPr lang="en-US" dirty="0" err="1"/>
              <a:t>lbfgs</a:t>
            </a:r>
            <a:r>
              <a:rPr lang="en-US" dirty="0"/>
              <a:t> solver — even though penalty='l2' is no longer written explicitly in code.</a:t>
            </a:r>
          </a:p>
          <a:p>
            <a:pPr>
              <a:lnSpc>
                <a:spcPct val="90000"/>
              </a:lnSpc>
            </a:pPr>
            <a:r>
              <a:rPr lang="en-US" b="1" dirty="0"/>
              <a:t>Regularization strength (C)</a:t>
            </a:r>
            <a:r>
              <a:rPr lang="en-US" dirty="0"/>
              <a:t> — Controls how much the model is allowed to grow its coefficients by controlling the L2 penalty. Small C means strong regularization (simpler model, less overfitting); large C means weak regularization (more complex, can overfit). This is the primary tuning knob for LR.</a:t>
            </a:r>
          </a:p>
          <a:p>
            <a:pPr>
              <a:lnSpc>
                <a:spcPct val="90000"/>
              </a:lnSpc>
            </a:pPr>
            <a:r>
              <a:rPr lang="en-US" b="1" dirty="0"/>
              <a:t>L-BFGS</a:t>
            </a:r>
            <a:r>
              <a:rPr lang="en-US" dirty="0"/>
              <a:t> — The default </a:t>
            </a:r>
            <a:r>
              <a:rPr lang="en-US" dirty="0" err="1"/>
              <a:t>optimisation</a:t>
            </a:r>
            <a:r>
              <a:rPr lang="en-US" dirty="0"/>
              <a:t> algorithm used by Logistic Regression. It iteratively adjusts coefficients to </a:t>
            </a:r>
            <a:r>
              <a:rPr lang="en-US" dirty="0" err="1"/>
              <a:t>minimise</a:t>
            </a:r>
            <a:r>
              <a:rPr lang="en-US" dirty="0"/>
              <a:t> the loss function (error + L2 penalty). Unlike tree-based models (RF) or distance-based models (KNN), LR needs an </a:t>
            </a:r>
            <a:r>
              <a:rPr lang="en-US" dirty="0" err="1"/>
              <a:t>optimiser</a:t>
            </a:r>
            <a:r>
              <a:rPr lang="en-US" dirty="0"/>
              <a:t> to find its coefficients.</a:t>
            </a:r>
          </a:p>
          <a:p>
            <a:pPr>
              <a:lnSpc>
                <a:spcPct val="90000"/>
              </a:lnSpc>
            </a:pPr>
            <a:endParaRPr lang="en-SG" dirty="0"/>
          </a:p>
        </p:txBody>
      </p:sp>
    </p:spTree>
    <p:extLst>
      <p:ext uri="{BB962C8B-B14F-4D97-AF65-F5344CB8AC3E}">
        <p14:creationId xmlns:p14="http://schemas.microsoft.com/office/powerpoint/2010/main" val="278383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AC35F-F0FB-34E9-FE1B-745437307D4B}"/>
              </a:ext>
            </a:extLst>
          </p:cNvPr>
          <p:cNvSpPr>
            <a:spLocks noGrp="1"/>
          </p:cNvSpPr>
          <p:nvPr>
            <p:ph type="ctrTitle"/>
          </p:nvPr>
        </p:nvSpPr>
        <p:spPr/>
        <p:txBody>
          <a:bodyPr/>
          <a:lstStyle/>
          <a:p>
            <a:r>
              <a:rPr lang="en-SG" dirty="0"/>
              <a:t>METRICS</a:t>
            </a:r>
          </a:p>
        </p:txBody>
      </p:sp>
    </p:spTree>
    <p:extLst>
      <p:ext uri="{BB962C8B-B14F-4D97-AF65-F5344CB8AC3E}">
        <p14:creationId xmlns:p14="http://schemas.microsoft.com/office/powerpoint/2010/main" val="838733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F196D-C65C-0E3E-EB97-06ADA54B0DE1}"/>
              </a:ext>
            </a:extLst>
          </p:cNvPr>
          <p:cNvSpPr>
            <a:spLocks noGrp="1"/>
          </p:cNvSpPr>
          <p:nvPr>
            <p:ph type="title"/>
          </p:nvPr>
        </p:nvSpPr>
        <p:spPr/>
        <p:txBody>
          <a:bodyPr/>
          <a:lstStyle/>
          <a:p>
            <a:r>
              <a:rPr lang="en-SG" dirty="0"/>
              <a:t>METRICS (ALL MODELS)</a:t>
            </a:r>
          </a:p>
        </p:txBody>
      </p:sp>
      <p:sp>
        <p:nvSpPr>
          <p:cNvPr id="3" name="Content Placeholder 2">
            <a:extLst>
              <a:ext uri="{FF2B5EF4-FFF2-40B4-BE49-F238E27FC236}">
                <a16:creationId xmlns:a16="http://schemas.microsoft.com/office/drawing/2014/main" id="{BBAA60F8-6290-8070-731D-501118826B17}"/>
              </a:ext>
            </a:extLst>
          </p:cNvPr>
          <p:cNvSpPr>
            <a:spLocks noGrp="1"/>
          </p:cNvSpPr>
          <p:nvPr>
            <p:ph idx="1"/>
          </p:nvPr>
        </p:nvSpPr>
        <p:spPr/>
        <p:txBody>
          <a:bodyPr/>
          <a:lstStyle/>
          <a:p>
            <a:r>
              <a:rPr lang="en-US" b="1" dirty="0"/>
              <a:t>F1-Score</a:t>
            </a:r>
            <a:r>
              <a:rPr lang="en-US" dirty="0"/>
              <a:t> — The harmonic mean of precision and recall. Unlike accuracy (which counts correct vs incorrect), F1 balances false positives and false negatives. This is our primary metric because it punishes models that guess the majority class and ignore rare but critical events. A high F1-Score means both precision and recall are strong — few false alarms and few missed detections.</a:t>
            </a:r>
          </a:p>
          <a:p>
            <a:r>
              <a:rPr lang="en-US" b="1" dirty="0"/>
              <a:t>Precision</a:t>
            </a:r>
            <a:r>
              <a:rPr lang="en-US" dirty="0"/>
              <a:t> — Of all the times the model predicted a class (e.g. "High Activity"), how many were actually correct? High precision means few false alarms.</a:t>
            </a:r>
          </a:p>
          <a:p>
            <a:r>
              <a:rPr lang="en-US" b="1" dirty="0"/>
              <a:t>Recall</a:t>
            </a:r>
            <a:r>
              <a:rPr lang="en-US" dirty="0"/>
              <a:t> — Of all the actual instances of a class, how many did the model catch? High recall means few missed events.</a:t>
            </a:r>
          </a:p>
          <a:p>
            <a:r>
              <a:rPr lang="en-US" b="1" dirty="0"/>
              <a:t>Weighted F1 (</a:t>
            </a:r>
            <a:r>
              <a:rPr lang="en-US" b="1" dirty="0" err="1"/>
              <a:t>wtd</a:t>
            </a:r>
            <a:r>
              <a:rPr lang="en-US" b="1" dirty="0"/>
              <a:t>)</a:t>
            </a:r>
            <a:r>
              <a:rPr lang="en-US" dirty="0"/>
              <a:t> — Averages each class's F1 weighted by the number of samples in that class. This gives a representative view of overall performance since larger classes contribute more — if you randomly sample a prediction, this score reflects expected accuracy. However, because Low Activity makes up 57.7% of the dataset, a strong score on Low can mask poor performance on Moderate or High Activity. This is not ideal for eldercare where detecting rare events matters most. Weighted F1 is reported alongside macro F1 to give a complete picture of both per-sample and per-class performance. A high weighted F1 means the model performs well on the majority class (Low Activity), but can still miss rare events if macro F1 is low.</a:t>
            </a:r>
          </a:p>
          <a:p>
            <a:r>
              <a:rPr lang="en-US" b="1" dirty="0"/>
              <a:t>Macro F1</a:t>
            </a:r>
            <a:r>
              <a:rPr lang="en-US" dirty="0"/>
              <a:t> — While weighted F1 reflects per-sample accuracy, macro F1 tells you whether the model works for ALL classes. It averages each class's F1 equally regardless of sample count, so a low F1 on High Activity hurts the score just as much as a low F1 on Low Activity. This is the stricter metric used to select the best model, because detecting rare activity shifts matters most. Together with weighted F1, macro ensures the model performs well on common cases without ignoring the critical rare ones. A high macro F1 means the model performs well on ALL classes equally — harder to achieve but safer for eldercare, since a rare missed event is </a:t>
            </a:r>
            <a:r>
              <a:rPr lang="en-US" dirty="0" err="1"/>
              <a:t>penalised</a:t>
            </a:r>
            <a:r>
              <a:rPr lang="en-US" dirty="0"/>
              <a:t> as much as a common one.</a:t>
            </a:r>
          </a:p>
          <a:p>
            <a:endParaRPr lang="en-SG" dirty="0"/>
          </a:p>
        </p:txBody>
      </p:sp>
    </p:spTree>
    <p:extLst>
      <p:ext uri="{BB962C8B-B14F-4D97-AF65-F5344CB8AC3E}">
        <p14:creationId xmlns:p14="http://schemas.microsoft.com/office/powerpoint/2010/main" val="2745255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3BBD-8696-B347-44E2-640F6E3ABAFB}"/>
              </a:ext>
            </a:extLst>
          </p:cNvPr>
          <p:cNvSpPr>
            <a:spLocks noGrp="1"/>
          </p:cNvSpPr>
          <p:nvPr>
            <p:ph type="title"/>
          </p:nvPr>
        </p:nvSpPr>
        <p:spPr>
          <a:xfrm>
            <a:off x="612185" y="685800"/>
            <a:ext cx="9141415" cy="1532788"/>
          </a:xfrm>
        </p:spPr>
        <p:txBody>
          <a:bodyPr anchor="b">
            <a:normAutofit/>
          </a:bodyPr>
          <a:lstStyle/>
          <a:p>
            <a:r>
              <a:rPr lang="en-SG" dirty="0"/>
              <a:t>Metrics used</a:t>
            </a:r>
          </a:p>
        </p:txBody>
      </p:sp>
      <p:sp>
        <p:nvSpPr>
          <p:cNvPr id="3" name="Content Placeholder 2">
            <a:extLst>
              <a:ext uri="{FF2B5EF4-FFF2-40B4-BE49-F238E27FC236}">
                <a16:creationId xmlns:a16="http://schemas.microsoft.com/office/drawing/2014/main" id="{9244914A-7BC2-D2D4-803F-2CE6DB45867A}"/>
              </a:ext>
            </a:extLst>
          </p:cNvPr>
          <p:cNvSpPr>
            <a:spLocks noGrp="1"/>
          </p:cNvSpPr>
          <p:nvPr>
            <p:ph sz="quarter" idx="13"/>
          </p:nvPr>
        </p:nvSpPr>
        <p:spPr>
          <a:xfrm>
            <a:off x="612185" y="2958705"/>
            <a:ext cx="9141415" cy="3213494"/>
          </a:xfrm>
        </p:spPr>
        <p:txBody>
          <a:bodyPr anchor="t">
            <a:normAutofit/>
          </a:bodyPr>
          <a:lstStyle/>
          <a:p>
            <a:pPr>
              <a:lnSpc>
                <a:spcPct val="140000"/>
              </a:lnSpc>
            </a:pPr>
            <a:r>
              <a:rPr lang="en-US" sz="1500" dirty="0"/>
              <a:t>For an eldercare early warning system, F1-Score is selected as the primary evaluation metric over standard classification accuracy due to inherent class imbalances in smart-home sensor logs. Because elderly residents spend a disproportionate amount of time resting, the dataset is naturally heavily skewed toward "Low Activity" instances. Relying on standard accuracy would reward a naive model that consistently predicts the majority class while failing entirely to catch critical movement transitions. F1-Score mitigates this bias by calculating the precision and recall for each activity class independently and taking their unweighted average. This ensures that "Low", "Moderate", and "High" activity states are treated with equal importance, directly penalizing the pipeline if it fails to accurately detect less frequent but potentially life-saving activity shifts.</a:t>
            </a:r>
            <a:endParaRPr lang="en-SG" sz="1500" dirty="0"/>
          </a:p>
        </p:txBody>
      </p:sp>
    </p:spTree>
    <p:extLst>
      <p:ext uri="{BB962C8B-B14F-4D97-AF65-F5344CB8AC3E}">
        <p14:creationId xmlns:p14="http://schemas.microsoft.com/office/powerpoint/2010/main" val="3631814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AC306-B93F-B63D-3A0E-6DC99F19B3E0}"/>
              </a:ext>
            </a:extLst>
          </p:cNvPr>
          <p:cNvSpPr>
            <a:spLocks noGrp="1"/>
          </p:cNvSpPr>
          <p:nvPr>
            <p:ph type="ctrTitle"/>
          </p:nvPr>
        </p:nvSpPr>
        <p:spPr/>
        <p:txBody>
          <a:bodyPr/>
          <a:lstStyle/>
          <a:p>
            <a:r>
              <a:rPr lang="en-SG" dirty="0"/>
              <a:t>Thank you</a:t>
            </a:r>
          </a:p>
        </p:txBody>
      </p:sp>
      <p:sp>
        <p:nvSpPr>
          <p:cNvPr id="3" name="Subtitle 2">
            <a:extLst>
              <a:ext uri="{FF2B5EF4-FFF2-40B4-BE49-F238E27FC236}">
                <a16:creationId xmlns:a16="http://schemas.microsoft.com/office/drawing/2014/main" id="{4648FF94-2574-691C-D114-F14793DE96B0}"/>
              </a:ext>
            </a:extLst>
          </p:cNvPr>
          <p:cNvSpPr>
            <a:spLocks noGrp="1"/>
          </p:cNvSpPr>
          <p:nvPr>
            <p:ph type="subTitle" idx="1"/>
          </p:nvPr>
        </p:nvSpPr>
        <p:spPr/>
        <p:txBody>
          <a:bodyPr/>
          <a:lstStyle/>
          <a:p>
            <a:endParaRPr lang="en-SG"/>
          </a:p>
        </p:txBody>
      </p:sp>
    </p:spTree>
    <p:extLst>
      <p:ext uri="{BB962C8B-B14F-4D97-AF65-F5344CB8AC3E}">
        <p14:creationId xmlns:p14="http://schemas.microsoft.com/office/powerpoint/2010/main" val="1284136544"/>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{54A3A944-26F2-42A6-85F4-52979A4EC004}0f45c1b8-b519-4737-8f12-a18148944ef7-TFfcaeb239-e0ad-43c4-9739-4084ddd7c62fe496f549_win32</Template>
  <TotalTime>78</TotalTime>
  <Words>1860</Words>
  <Application>Microsoft Office PowerPoint</Application>
  <PresentationFormat>Widescreen</PresentationFormat>
  <Paragraphs>60</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Bahnschrift SemiLight</vt:lpstr>
      <vt:lpstr>Blockwork elegance</vt:lpstr>
      <vt:lpstr>EGT309 Presentation </vt:lpstr>
      <vt:lpstr>EDA WALKTHROUGH</vt:lpstr>
      <vt:lpstr>Feature vs. Target Analysis</vt:lpstr>
      <vt:lpstr>Temperature</vt:lpstr>
      <vt:lpstr>Temperature</vt:lpstr>
      <vt:lpstr>Humidity</vt:lpstr>
      <vt:lpstr>HUMIDITY</vt:lpstr>
      <vt:lpstr>CO2 INFRARED AND ELECTROCHEMICAL</vt:lpstr>
      <vt:lpstr>PowerPoint Presentation</vt:lpstr>
      <vt:lpstr>CO2 GAS SENSOR</vt:lpstr>
      <vt:lpstr>Metaloxide sensor</vt:lpstr>
      <vt:lpstr>hvac</vt:lpstr>
      <vt:lpstr>Ambient Light Level</vt:lpstr>
      <vt:lpstr>Activity level</vt:lpstr>
      <vt:lpstr>MODELS</vt:lpstr>
      <vt:lpstr>Random Forest</vt:lpstr>
      <vt:lpstr>K-Nearest Neighbors</vt:lpstr>
      <vt:lpstr>Logistic Regression</vt:lpstr>
      <vt:lpstr>METRICS</vt:lpstr>
      <vt:lpstr>METRICS (ALL MODELS)</vt:lpstr>
      <vt:lpstr>Metrics used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Phang Derek</dc:creator>
  <cp:lastModifiedBy>Phang Derek</cp:lastModifiedBy>
  <cp:revision>1</cp:revision>
  <dcterms:created xsi:type="dcterms:W3CDTF">2026-06-09T03:03:15Z</dcterms:created>
  <dcterms:modified xsi:type="dcterms:W3CDTF">2026-06-09T04:22:13Z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